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29" r:id="rId3"/>
    <p:sldId id="530" r:id="rId10"/>
    <p:sldId id="531" r:id="rId11"/>
    <p:sldId id="532" r:id="rId12"/>
    <p:sldId id="533" r:id="rId13"/>
    <p:sldId id="534" r:id="rId14"/>
    <p:sldId id="535" r:id="rId15"/>
    <p:sldId id="536" r:id="rId16"/>
    <p:sldId id="537" r:id="rId17"/>
    <p:sldId id="538" r:id="rId18"/>
    <p:sldId id="539" r:id="rId19"/>
    <p:sldId id="540" r:id="rId20"/>
  </p:sldIdLst>
  <p:sldSz cx="10160000" cy="5715000"/>
  <p:notesSz cx="6858000" cy="9144000"/>
  <p:custDataLst>
    <p:tags r:id="rId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22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FFFF"/>
    <a:srgbClr val="DD3000"/>
    <a:srgbClr val="53BA4B"/>
    <a:srgbClr val="0089FB"/>
    <a:srgbClr val="FF0097"/>
    <a:srgbClr val="8035FA"/>
    <a:srgbClr val="C0504D"/>
    <a:srgbClr val="800000"/>
    <a:srgbClr val="C82500"/>
    <a:srgbClr val="EF80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79215"/>
  </p:normalViewPr>
  <p:slideViewPr>
    <p:cSldViewPr showGuides="1">
      <p:cViewPr varScale="1">
        <p:scale>
          <a:sx n="68" d="100"/>
          <a:sy n="68" d="100"/>
        </p:scale>
        <p:origin x="1230" y="60"/>
      </p:cViewPr>
      <p:guideLst>
        <p:guide orient="horz" pos="3622"/>
        <p:guide pos="32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tags" Target="tags/tag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C780F01-580D-41F8-9EDA-614A7C614375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1C996F1-A0A6-471A-99E0-734DB0E183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A29A8BF-AF1C-4FF5-9B4E-0E589FA11FD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幻灯片图像占位符 3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7E8961-9E69-4E6A-A6B7-0E7B6A7D44F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2000" y="1774825"/>
            <a:ext cx="8636000" cy="12255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2571" y="3671888"/>
            <a:ext cx="86360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2571" y="2422529"/>
            <a:ext cx="8636000" cy="124936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8000" y="1333500"/>
            <a:ext cx="4487333" cy="3771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64668" y="1333500"/>
            <a:ext cx="4487333" cy="3771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0" y="228600"/>
            <a:ext cx="91440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1" y="1279525"/>
            <a:ext cx="4489099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8001" y="1812932"/>
            <a:ext cx="4489099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61140" y="1279525"/>
            <a:ext cx="4490861" cy="5334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61140" y="1812932"/>
            <a:ext cx="4490861" cy="32924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001" y="227020"/>
            <a:ext cx="3342571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72277" y="227020"/>
            <a:ext cx="5679723" cy="48783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8001" y="1195388"/>
            <a:ext cx="3342571" cy="3910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1431" y="4000507"/>
            <a:ext cx="6096000" cy="47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1431" y="511175"/>
            <a:ext cx="6096000" cy="34290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91431" y="4473582"/>
            <a:ext cx="6096000" cy="6699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58944" y="1285879"/>
            <a:ext cx="2293056" cy="3819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6256" y="1285879"/>
            <a:ext cx="6713361" cy="3819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5297488"/>
            <a:ext cx="2370138" cy="3032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8BC60F-5F60-4D22-B689-010AF9CD692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71863" y="5297488"/>
            <a:ext cx="3216275" cy="3032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81863" y="5297488"/>
            <a:ext cx="2370138" cy="3032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520700" y="912813"/>
            <a:ext cx="9144000" cy="736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9144000" cy="34004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r>
              <a:rPr lang="zh-CN" altLang="zh-CN" dirty="0"/>
              <a:t>第二级</a:t>
            </a:r>
            <a:endParaRPr lang="zh-CN" altLang="zh-CN" dirty="0"/>
          </a:p>
          <a:p>
            <a:pPr lvl="2"/>
            <a:r>
              <a:rPr lang="zh-CN" altLang="zh-CN" dirty="0"/>
              <a:t>第三级</a:t>
            </a:r>
            <a:endParaRPr lang="zh-CN" altLang="zh-CN" dirty="0"/>
          </a:p>
          <a:p>
            <a:pPr lvl="3"/>
            <a:r>
              <a:rPr lang="zh-CN" altLang="zh-CN" dirty="0"/>
              <a:t>第四级</a:t>
            </a:r>
            <a:endParaRPr lang="zh-CN" altLang="zh-CN" dirty="0"/>
          </a:p>
          <a:p>
            <a:pPr lvl="4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8000" y="5297488"/>
            <a:ext cx="2370138" cy="3032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FB5667-7E65-41E2-AEF6-92CDAD50AF7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71863" y="5297488"/>
            <a:ext cx="3216275" cy="3032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81863" y="5297488"/>
            <a:ext cx="2370138" cy="3032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82A7A8-8F40-409B-BEB3-116C63A6EFF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矩形 7"/>
          <p:cNvSpPr>
            <a:spLocks noChangeArrowheads="1"/>
          </p:cNvSpPr>
          <p:nvPr/>
        </p:nvSpPr>
        <p:spPr bwMode="auto">
          <a:xfrm>
            <a:off x="1" y="0"/>
            <a:ext cx="8302627" cy="913284"/>
          </a:xfrm>
          <a:prstGeom prst="rect">
            <a:avLst/>
          </a:prstGeom>
          <a:gradFill rotWithShape="1">
            <a:gsLst>
              <a:gs pos="0">
                <a:srgbClr val="D9D9D9"/>
              </a:gs>
              <a:gs pos="63000">
                <a:srgbClr val="FFFFFF">
                  <a:alpha val="37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4" name="图片 8" descr="内页上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60925" y="0"/>
            <a:ext cx="5299075" cy="78581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35" name="直接连接符 10"/>
          <p:cNvCxnSpPr/>
          <p:nvPr/>
        </p:nvCxnSpPr>
        <p:spPr>
          <a:xfrm flipV="1">
            <a:off x="0" y="571500"/>
            <a:ext cx="9048750" cy="30163"/>
          </a:xfrm>
          <a:prstGeom prst="line">
            <a:avLst/>
          </a:prstGeom>
          <a:ln w="9525" cap="flat" cmpd="sng">
            <a:solidFill>
              <a:srgbClr val="BFBFBF"/>
            </a:solidFill>
            <a:prstDash val="dash"/>
            <a:headEnd type="none" w="med" len="med"/>
            <a:tailEnd type="none" w="med" len="med"/>
          </a:ln>
        </p:spPr>
      </p:cxnSp>
      <p:pic>
        <p:nvPicPr>
          <p:cNvPr id="1036" name="图片 8" descr="内页上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5143500"/>
            <a:ext cx="6270625" cy="5715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37" name="直接连接符 13"/>
          <p:cNvCxnSpPr/>
          <p:nvPr/>
        </p:nvCxnSpPr>
        <p:spPr>
          <a:xfrm>
            <a:off x="952500" y="5286375"/>
            <a:ext cx="9207500" cy="12700"/>
          </a:xfrm>
          <a:prstGeom prst="line">
            <a:avLst/>
          </a:prstGeom>
          <a:ln w="9525" cap="flat" cmpd="sng">
            <a:solidFill>
              <a:srgbClr val="BFBFBF"/>
            </a:solidFill>
            <a:prstDash val="dash"/>
            <a:headEnd type="none" w="med" len="med"/>
            <a:tailEnd type="none" w="med" len="med"/>
          </a:ln>
        </p:spPr>
      </p:cxnSp>
      <p:grpSp>
        <p:nvGrpSpPr>
          <p:cNvPr id="1038" name="组合 17"/>
          <p:cNvGrpSpPr/>
          <p:nvPr/>
        </p:nvGrpSpPr>
        <p:grpSpPr>
          <a:xfrm>
            <a:off x="379413" y="120650"/>
            <a:ext cx="3900487" cy="709613"/>
            <a:chOff x="323528" y="154931"/>
            <a:chExt cx="3510290" cy="709240"/>
          </a:xfrm>
        </p:grpSpPr>
        <p:pic>
          <p:nvPicPr>
            <p:cNvPr id="1050" name="图片 18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323528" y="154931"/>
              <a:ext cx="709240" cy="7092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40" name="矩形 19"/>
            <p:cNvSpPr>
              <a:spLocks noChangeArrowheads="1"/>
            </p:cNvSpPr>
            <p:nvPr/>
          </p:nvSpPr>
          <p:spPr bwMode="auto">
            <a:xfrm>
              <a:off x="969296" y="156518"/>
              <a:ext cx="2864522" cy="46171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河 北 东 方 学 院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041" name="TextBox 20"/>
            <p:cNvSpPr txBox="1">
              <a:spLocks noChangeArrowheads="1"/>
            </p:cNvSpPr>
            <p:nvPr/>
          </p:nvSpPr>
          <p:spPr bwMode="auto">
            <a:xfrm>
              <a:off x="1149311" y="516691"/>
              <a:ext cx="1811578" cy="276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Hebei Oriental University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矩形 7"/>
          <p:cNvSpPr>
            <a:spLocks noChangeArrowheads="1"/>
          </p:cNvSpPr>
          <p:nvPr/>
        </p:nvSpPr>
        <p:spPr bwMode="auto">
          <a:xfrm>
            <a:off x="1" y="0"/>
            <a:ext cx="8302627" cy="913284"/>
          </a:xfrm>
          <a:prstGeom prst="rect">
            <a:avLst/>
          </a:prstGeom>
          <a:gradFill rotWithShape="1">
            <a:gsLst>
              <a:gs pos="0">
                <a:srgbClr val="D9D9D9"/>
              </a:gs>
              <a:gs pos="63000">
                <a:srgbClr val="FFFFFF">
                  <a:alpha val="37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42" name="图片 8" descr="内页上.png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860925" y="0"/>
            <a:ext cx="5299075" cy="78581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43" name="直接连接符 10"/>
          <p:cNvCxnSpPr/>
          <p:nvPr userDrawn="1"/>
        </p:nvCxnSpPr>
        <p:spPr>
          <a:xfrm flipV="1">
            <a:off x="0" y="571500"/>
            <a:ext cx="9048750" cy="30163"/>
          </a:xfrm>
          <a:prstGeom prst="line">
            <a:avLst/>
          </a:prstGeom>
          <a:ln w="9525" cap="flat" cmpd="sng">
            <a:solidFill>
              <a:srgbClr val="BFBFBF"/>
            </a:solidFill>
            <a:prstDash val="dash"/>
            <a:headEnd type="none" w="med" len="med"/>
            <a:tailEnd type="none" w="med" len="med"/>
          </a:ln>
        </p:spPr>
      </p:cxnSp>
      <p:pic>
        <p:nvPicPr>
          <p:cNvPr id="1044" name="图片 8" descr="内页上.png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5143500"/>
            <a:ext cx="6270625" cy="5715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45" name="直接连接符 13"/>
          <p:cNvCxnSpPr/>
          <p:nvPr userDrawn="1"/>
        </p:nvCxnSpPr>
        <p:spPr>
          <a:xfrm>
            <a:off x="952500" y="5286375"/>
            <a:ext cx="9207500" cy="12700"/>
          </a:xfrm>
          <a:prstGeom prst="line">
            <a:avLst/>
          </a:prstGeom>
          <a:ln w="9525" cap="flat" cmpd="sng">
            <a:solidFill>
              <a:srgbClr val="BFBFBF"/>
            </a:solidFill>
            <a:prstDash val="dash"/>
            <a:headEnd type="none" w="med" len="med"/>
            <a:tailEnd type="none" w="med" len="med"/>
          </a:ln>
        </p:spPr>
      </p:cxnSp>
      <p:grpSp>
        <p:nvGrpSpPr>
          <p:cNvPr id="1046" name="组合 17"/>
          <p:cNvGrpSpPr/>
          <p:nvPr userDrawn="1"/>
        </p:nvGrpSpPr>
        <p:grpSpPr>
          <a:xfrm>
            <a:off x="379413" y="120650"/>
            <a:ext cx="3900487" cy="709613"/>
            <a:chOff x="323528" y="154931"/>
            <a:chExt cx="3510290" cy="709240"/>
          </a:xfrm>
        </p:grpSpPr>
        <p:pic>
          <p:nvPicPr>
            <p:cNvPr id="1047" name="图片 18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323528" y="154931"/>
              <a:ext cx="709240" cy="70924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19"/>
            <p:cNvSpPr>
              <a:spLocks noChangeArrowheads="1"/>
            </p:cNvSpPr>
            <p:nvPr/>
          </p:nvSpPr>
          <p:spPr bwMode="auto">
            <a:xfrm>
              <a:off x="969296" y="156518"/>
              <a:ext cx="2864522" cy="46171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rPr>
                <a:t>河 北 东 方 学 院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0" name="TextBox 20"/>
            <p:cNvSpPr txBox="1">
              <a:spLocks noChangeArrowheads="1"/>
            </p:cNvSpPr>
            <p:nvPr/>
          </p:nvSpPr>
          <p:spPr bwMode="auto">
            <a:xfrm>
              <a:off x="1149311" y="516691"/>
              <a:ext cx="1811578" cy="276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Hebei Oriental University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1630" indent="-341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741680" indent="-28448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2pPr>
      <a:lvl3pPr marL="1141730" indent="-2273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3pPr>
      <a:lvl4pPr marL="1598930" indent="-2273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4pPr>
      <a:lvl5pPr marL="2056130" indent="-2273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8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76809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595959"/>
                </a:solidFill>
                <a:latin typeface="微软雅黑"/>
                <a:ea typeface="微软雅黑"/>
              </a:rPr>
              <a:t>毕业设计（论文）开题答辩</a:t>
            </a:r>
          </a:p>
          <a:p>
            <a:pPr algn="ctr">
              <a:spcAft>
                <a:spcPts val="0"/>
              </a:spcAft>
            </a:pPr>
            <a:r>
              <a:rPr sz="3000" b="1">
                <a:solidFill>
                  <a:srgbClr val="C00000"/>
                </a:solidFill>
                <a:latin typeface="微软雅黑"/>
                <a:ea typeface="微软雅黑"/>
              </a:rPr>
              <a:t>基于大模型的智能简历诊断与岗位匹配推荐系统的设计与实现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77639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答辩人：（姓名）    学号：（学号）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学院：（学院）    专业：（专业）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指导教师：（教师姓名）    2026 年 10 月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目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微软雅黑"/>
                <a:ea typeface="微软雅黑"/>
              </a:rPr>
              <a:t>● 一、研究背景及意义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微软雅黑"/>
                <a:ea typeface="微软雅黑"/>
              </a:rPr>
              <a:t>● 二、国内外研究现状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微软雅黑"/>
                <a:ea typeface="微软雅黑"/>
              </a:rPr>
              <a:t>● 三、研究内容与技术路线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微软雅黑"/>
                <a:ea typeface="微软雅黑"/>
              </a:rPr>
              <a:t>● 四、系统原型展示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微软雅黑"/>
                <a:ea typeface="微软雅黑"/>
              </a:rPr>
              <a:t>● 五、进度安排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微软雅黑"/>
                <a:ea typeface="微软雅黑"/>
              </a:rPr>
              <a:t>● 六、参考文献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一、研究背景及意义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● 就业形势：2025 届全国高校毕业生达 1222 万人，校招竞争持续加剧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● 痛点一：人岗信息不对称，凭感觉海投，反馈率低、求职周期长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● 痛点二：现有简历工具只做格式美化与通用打分，无法结合具体岗位给出可用的改写结果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● 技术机遇：大语言模型能力趋实用，但单提示词点评存在结论发散、无中间过程、证据不可溯三大缺陷</a:t>
            </a:r>
          </a:p>
          <a:p>
            <a:pPr>
              <a:spcAft>
                <a:spcPts val="600"/>
              </a:spcAft>
            </a:pPr>
            <a:r>
              <a:rPr sz="1450">
                <a:solidFill>
                  <a:srgbClr val="333333"/>
                </a:solidFill>
                <a:latin typeface="微软雅黑"/>
                <a:ea typeface="微软雅黑"/>
              </a:rPr>
              <a:t>● 研究意义：实践上把模型能力转化为「差在哪、如何改」的可解释求职服务；技术上探索多智能体编排 + RAG 证据接地的垂直落地范式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二、国内外研究现状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6420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国外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29968"/>
            <a:ext cx="7863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基础模型：Transformer → GPT-3 少样本学习 → GPT-4 实用化；RAG 范式提升事实性与可溯源性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编排框架：LangChain / LangGraph 提供状态图、中断恢复等原语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产品：Simplify Copilot 半自动投递只解决「投」环节；AIHawk 全自动投递受平台风控限制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国内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862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平台内建 AI 简历功能点状有限；通用大模型问答点评输出发散、无证据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传统简历工具以格式检查为主；多智能体框架兴起，但用于简历诊断且证据可溯的公开研究仍较少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三、研究内容（五项）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1. 智能简历诊断工作流：LangGraph 状态图编排解析 / 岗位分析 / 评分 / 差距 / 改写智能体，并行解析 + interrupt 动态追问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2. 任务内证据接地（核心创新）：简历与 JD 切块建临时索引，结论全部回链原文；四层防幻觉体系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3. 岗位匹配推荐：多来源岗位聚合，「关键词粗筛 + 大模型语义精排」两阶段策略，输出匹配分与推荐理由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4. 流式交互与结构化输出：SSE 实时推送；Schema 注入 + 括号平衡提取 + 纠错重试三层容错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5. 系统实现与评估：FastAPI + Vue3；桌面 exe + 网站双形态；消融 / 稳定性 / 压测三维评估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三、技术路线（分层架构）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● 交互层：Vue3 网页界面 + 桌面客户端（免安装）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● 服务层：FastAPI 接口 + SSE 实时推送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● 编排层：LangGraph 多智能体诊断链（并行解析 / 条件分支 / 动态追问）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● 能力层：兼容大模型 + 任务内 RAG 证据库 + 四层校验；「粗筛 + 精排」两阶段岗位匹配推荐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● 数据层：SQLite 存储简历、岗位库、诊断记录与会话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微软雅黑"/>
                <a:ea typeface="微软雅黑"/>
              </a:rPr>
              <a:t>● 研究方法：文献研究法 + 原型系统法 + 实验验证法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三、关键技术与难点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难点 1：大模型结构化输出不稳定、多厂商行为差异大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95959"/>
                </a:solidFill>
                <a:latin typeface="微软雅黑"/>
                <a:ea typeface="微软雅黑"/>
              </a:rPr>
              <a:t>— 对策：Schema 注入 + 括号平衡提取 + 纠错重试三层容错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难点 2：诊断结论幻觉、证据不可溯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95959"/>
                </a:solidFill>
                <a:latin typeface="微软雅黑"/>
                <a:ea typeface="微软雅黑"/>
              </a:rPr>
              <a:t>— 对策：任务内 RAG 证据接地 + 四层防幻觉（注入 / 约束 / 校验 / 标注）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难点 3：多智能体链路耗时长，用户体验差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95959"/>
                </a:solidFill>
                <a:latin typeface="微软雅黑"/>
                <a:ea typeface="微软雅黑"/>
              </a:rPr>
              <a:t>— 对策：解析阶段并行化 + SSE 全程流式反馈 + 断点续跑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难点 4：岗位匹配的语义鸿沟与调用成本矛盾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595959"/>
                </a:solidFill>
                <a:latin typeface="微软雅黑"/>
                <a:ea typeface="微软雅黑"/>
              </a:rPr>
              <a:t>— 对策：「关键词粗筛 + 大模型精排」两阶段，先过滤后排序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三、预期成果与创新点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6420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预期成果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29968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可运行的完整系统：智能简历诊断 + 岗位匹配推荐（桌面 exe + 网站双形态）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毕业设计（论文）一篇及配套实验数据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</a:rPr>
              <a:t>创新点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任务内证据接地：区别于外挂知识库式 RAG，结论全部回链本次简历原文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模型自主判定追问：interrupt 人在回路，由信息缺口动态决定追问数量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两阶段岗位匹配：粗筛与精排结合，兼顾调用成本与语义相关性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四、系统原型展示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3977639" cy="2486024"/>
          </a:xfrm>
          <a:prstGeom prst="rect">
            <a:avLst/>
          </a:prstGeom>
        </p:spPr>
      </p:pic>
      <p:pic>
        <p:nvPicPr>
          <p:cNvPr id="5" name="Picture 4" descr="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783080"/>
            <a:ext cx="3977639" cy="24860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34340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智能简历诊断：六维评分 + 证据引用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434340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岗位匹配推荐：粗筛精排 + 岗位库管理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五、进度安排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7863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011680"/>
                <a:gridCol w="5029200"/>
              </a:tblGrid>
              <a:tr h="43760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工作内容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2026.10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文献调研，完成开题报告与开题答辩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2026.11 - 12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需求分析与总体设计（选型 / 数据库 / 诊断流程架构）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2026.12 - 2027.01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核心模块开发（工作流 / 证据接地 / 流式），撰写初稿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2027.02 - 03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功能完善与实验评估，参加中期检查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2027.04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论文修改、查重与定稿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2027.05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答辩准备，参加毕业答辩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93268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六、参考文献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481328"/>
            <a:ext cx="8083296" cy="25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[1] 车万翔, 窦嘉玮, 闫崑, 等. 大模型时代的自然语言处理——挑战、机遇与发展. 中国科学: 信息科学, 2023.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[2] 邱锡鹏. 神经网络与深度学习. 机械工业出版社, 2020.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[3] 周志华. 机器学习. 清华大学出版社, 2016.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[4] 李航. 统计学习方法（第 2 版）. 清华大学出版社, 2019.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[5] 宗成庆. 统计自然语言处理（第 2 版）. 清华大学出版社, 2013.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[6] 中国信息通信研究院. 人工智能发展报告（2024 年）, 2024.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[7] 教育部. 2025 届全国普通高校毕业生规模预计达 1222 万人, 2024.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333333"/>
                </a:solidFill>
                <a:latin typeface="微软雅黑"/>
                <a:ea typeface="微软雅黑"/>
              </a:rPr>
              <a:t>● [8] 中国互联网络信息中心. 第 53 次中国互联网络发展状况统计报告, 2024.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恳请各位老师批评指正！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0&quot;:[50037512,20235023]}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 1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FFFF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模版4(1)</Template>
  <TotalTime>0</TotalTime>
  <Words>0</Words>
  <Application>WPS 演示</Application>
  <PresentationFormat>自定义</PresentationFormat>
  <Paragraphs>0</Paragraphs>
  <Slides>1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华文新魏</vt:lpstr>
      <vt:lpstr>楷体</vt:lpstr>
      <vt:lpstr>微软雅黑</vt:lpstr>
      <vt:lpstr>微软雅黑</vt:lpstr>
      <vt:lpstr>Arial Unicode MS</vt:lpstr>
      <vt:lpstr>Office 主题</vt:lpstr>
      <vt:lpstr>PowerPoint 演示文稿</vt:lpstr>
    </vt:vector>
  </TitlesOfParts>
  <Company>管道学院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WPS_1647474256</cp:lastModifiedBy>
  <cp:revision>739</cp:revision>
  <dcterms:created xsi:type="dcterms:W3CDTF">2013-10-14T08:44:00Z</dcterms:created>
  <dcterms:modified xsi:type="dcterms:W3CDTF">2025-12-06T03:42:02Z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00080068fb000000000001023620</vt:lpwstr>
  </property>
  <property fmtid="{D5CDD505-2E9C-101B-9397-08002B2CF9AE}" pid="3" name="KSOProductBuildVer">
    <vt:lpwstr>2052-12.1.0.23542</vt:lpwstr>
  </property>
  <property fmtid="{D5CDD505-2E9C-101B-9397-08002B2CF9AE}" pid="4" name="ICV">
    <vt:lpwstr>2EB922048D784B9387B73D3C8FD3FE98_12</vt:lpwstr>
  </property>
</Properties>
</file>